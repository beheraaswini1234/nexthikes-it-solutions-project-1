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omments/modernComment_104_3C04EA2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71" r:id="rId8"/>
    <p:sldId id="270" r:id="rId9"/>
    <p:sldId id="269" r:id="rId10"/>
    <p:sldId id="268" r:id="rId11"/>
    <p:sldId id="267" r:id="rId12"/>
    <p:sldId id="266" r:id="rId13"/>
    <p:sldId id="265" r:id="rId14"/>
    <p:sldId id="264" r:id="rId15"/>
    <p:sldId id="263" r:id="rId16"/>
    <p:sldId id="262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A3244B-348F-C68F-F442-3ACF7DFED176}" name="Aswiniranjan Behera" initials="AB" userId="1e8d5334716415c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1A93"/>
    <a:srgbClr val="7C1995"/>
    <a:srgbClr val="F16F59"/>
    <a:srgbClr val="D24798"/>
    <a:srgbClr val="F16C5B"/>
    <a:srgbClr val="D452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94660"/>
  </p:normalViewPr>
  <p:slideViewPr>
    <p:cSldViewPr snapToGrid="0">
      <p:cViewPr>
        <p:scale>
          <a:sx n="75" d="100"/>
          <a:sy n="75" d="100"/>
        </p:scale>
        <p:origin x="80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104_3C04EA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BC839C-A9AB-4BD0-B461-2239A0DF3F47}" authorId="{ADA3244B-348F-C68F-F442-3ACF7DFED176}" created="2026-10-10T14:35:59.5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06955045" sldId="260"/>
      <ac:spMk id="8" creationId="{DB373F95-789A-968B-9CBE-181A4C6323BD}"/>
    </ac:deMkLst>
    <p188:txBody>
      <a:bodyPr/>
      <a:lstStyle/>
      <a:p>
        <a:r>
          <a:rPr lang="en-IN"/>
          <a:t>-&gt;Missing values detected in atemp (feeling temperature) across 11 records in early batches .
-&gt;Inconsistent text formats across timestamp and date strings. 
-&gt;Raw ID sequence misalignment across discontinuous batches.</a:t>
        </a:r>
      </a:p>
    </p188:txBody>
  </p188:cm>
  <p188:cm id="{3308A2D3-DE0A-4B9E-A791-FB593A224658}" authorId="{ADA3244B-348F-C68F-F442-3ACF7DFED176}" created="2026-10-10T14:43:37.0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06955045" sldId="260"/>
      <ac:spMk id="9" creationId="{67BDD615-1AD0-B2EE-8A02-E8FC0A7D4CED}"/>
    </ac:deMkLst>
    <p188:txBody>
      <a:bodyPr/>
      <a:lstStyle/>
      <a:p>
        <a:r>
          <a:rPr lang="en-IN"/>
          <a:t>-&gt;Imputed missing atemp values using localized median conditional on actual temp and humidity .
-&gt;Formatted timestamps into standardized Excel serial dates and extracted 24-hour integer components. 
-&gt;Re-indexed all observations into a continuous Sl no. primary identifier.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47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47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0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394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793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55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3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588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25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2139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61843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34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752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9427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518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540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7796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282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674998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0758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49249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90163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049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1519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167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833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00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E1BAD87-4F41-4AC3-B8F5-05AFCBC49D2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DBCCD4EC-C538-4B4C-B9B7-ED2C55B19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050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04_3C04EA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A1DE-9254-164B-CA2B-C53FCF723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9944" y="284480"/>
            <a:ext cx="6276971" cy="2562682"/>
          </a:xfrm>
        </p:spPr>
        <p:txBody>
          <a:bodyPr/>
          <a:lstStyle/>
          <a:p>
            <a:r>
              <a:rPr lang="en-IN" b="1" dirty="0">
                <a:solidFill>
                  <a:srgbClr val="D452BF"/>
                </a:solidFill>
              </a:rPr>
              <a:t>Bike Sharing</a:t>
            </a:r>
            <a:r>
              <a:rPr lang="en-IN" b="1" dirty="0"/>
              <a:t> Demand Analysis &amp; </a:t>
            </a:r>
            <a:r>
              <a:rPr lang="en-IN" b="1" dirty="0">
                <a:solidFill>
                  <a:srgbClr val="F16C5B"/>
                </a:solidFill>
              </a:rPr>
              <a:t>Fleet Optimization</a:t>
            </a:r>
            <a:r>
              <a:rPr lang="en-IN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42ECA-9444-4161-76F2-C0292F06AA8E}"/>
              </a:ext>
            </a:extLst>
          </p:cNvPr>
          <p:cNvSpPr txBox="1"/>
          <p:nvPr/>
        </p:nvSpPr>
        <p:spPr>
          <a:xfrm>
            <a:off x="8881487" y="2854289"/>
            <a:ext cx="331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800080"/>
                </a:highlight>
              </a:rPr>
              <a:t>NEXTHIKES IT SOLUTIONS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FE44F-39AC-C010-B35F-2D5C83D266AD}"/>
              </a:ext>
            </a:extLst>
          </p:cNvPr>
          <p:cNvSpPr txBox="1"/>
          <p:nvPr/>
        </p:nvSpPr>
        <p:spPr>
          <a:xfrm>
            <a:off x="-73152" y="5934670"/>
            <a:ext cx="7927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Represent By:</a:t>
            </a:r>
            <a:r>
              <a:rPr lang="en-IN" dirty="0"/>
              <a:t> Aswiniranjan Behera</a:t>
            </a:r>
          </a:p>
          <a:p>
            <a:pPr lvl="0"/>
            <a:r>
              <a:rPr lang="en-IN" b="1" dirty="0"/>
              <a:t>Submission Date:</a:t>
            </a:r>
            <a:r>
              <a:rPr lang="en-IN" dirty="0"/>
              <a:t> October 10, 2026 </a:t>
            </a:r>
          </a:p>
          <a:p>
            <a:pPr lvl="0"/>
            <a:r>
              <a:rPr lang="en-IN" b="1" dirty="0"/>
              <a:t>Tools Used:</a:t>
            </a:r>
            <a:r>
              <a:rPr lang="en-IN" dirty="0"/>
              <a:t> Microsoft Excel, Power Query, Pivot Tables, VBA Macros </a:t>
            </a:r>
          </a:p>
        </p:txBody>
      </p:sp>
    </p:spTree>
    <p:extLst>
      <p:ext uri="{BB962C8B-B14F-4D97-AF65-F5344CB8AC3E}">
        <p14:creationId xmlns:p14="http://schemas.microsoft.com/office/powerpoint/2010/main" val="217862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ABF9-7669-6992-0077-3BF53D11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CDBCAA-446C-2344-5FDE-5FABDDD94CD8}"/>
              </a:ext>
            </a:extLst>
          </p:cNvPr>
          <p:cNvSpPr txBox="1"/>
          <p:nvPr/>
        </p:nvSpPr>
        <p:spPr>
          <a:xfrm>
            <a:off x="8659368" y="623578"/>
            <a:ext cx="25786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Situation Context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D0159-0A64-C8FB-C6D5-C23665AD9443}"/>
              </a:ext>
            </a:extLst>
          </p:cNvPr>
          <p:cNvSpPr txBox="1"/>
          <p:nvPr/>
        </p:nvSpPr>
        <p:spPr>
          <a:xfrm>
            <a:off x="466344" y="623578"/>
            <a:ext cx="28346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Problem</a:t>
            </a:r>
            <a:r>
              <a:rPr lang="en-IN" dirty="0"/>
              <a:t> </a:t>
            </a:r>
            <a:r>
              <a:rPr lang="en-IN" b="1" dirty="0"/>
              <a:t>Statement</a:t>
            </a:r>
            <a:r>
              <a:rPr lang="en-IN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87B96-2321-D0BF-1A16-64A3AC6A4370}"/>
              </a:ext>
            </a:extLst>
          </p:cNvPr>
          <p:cNvSpPr txBox="1"/>
          <p:nvPr/>
        </p:nvSpPr>
        <p:spPr>
          <a:xfrm>
            <a:off x="704088" y="1490472"/>
            <a:ext cx="4599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Operational Inefficiencies</a:t>
            </a:r>
            <a:r>
              <a:rPr lang="en-IN" dirty="0"/>
              <a:t> — Lack of predictive demand </a:t>
            </a:r>
            <a:r>
              <a:rPr lang="en-IN" dirty="0" err="1"/>
              <a:t>modeling</a:t>
            </a:r>
            <a:r>
              <a:rPr lang="en-IN" dirty="0"/>
              <a:t> leads to severe bike shortages at transit stations during morning and evening rush peaks.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BD85E-BF01-909D-F218-0F1958127681}"/>
              </a:ext>
            </a:extLst>
          </p:cNvPr>
          <p:cNvSpPr txBox="1"/>
          <p:nvPr/>
        </p:nvSpPr>
        <p:spPr>
          <a:xfrm>
            <a:off x="283464" y="1490472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[✓]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5F976-6971-CFD7-B4B1-EF23A2D1CD97}"/>
              </a:ext>
            </a:extLst>
          </p:cNvPr>
          <p:cNvSpPr txBox="1"/>
          <p:nvPr/>
        </p:nvSpPr>
        <p:spPr>
          <a:xfrm>
            <a:off x="704088" y="3151537"/>
            <a:ext cx="4965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Fragmentation &amp; Inconsistent Quality</a:t>
            </a:r>
            <a:r>
              <a:rPr lang="en-IN" dirty="0"/>
              <a:t> — Ingestion logs across multiple separate files require manual cleaning, deduplication, and lookup joins before analysis is possible.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7AE51-FF05-D839-C834-58069AD772C8}"/>
              </a:ext>
            </a:extLst>
          </p:cNvPr>
          <p:cNvSpPr txBox="1"/>
          <p:nvPr/>
        </p:nvSpPr>
        <p:spPr>
          <a:xfrm>
            <a:off x="301752" y="3142643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[✓]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7998B-6DB1-FD93-D51A-F45F122B389C}"/>
              </a:ext>
            </a:extLst>
          </p:cNvPr>
          <p:cNvSpPr txBox="1"/>
          <p:nvPr/>
        </p:nvSpPr>
        <p:spPr>
          <a:xfrm>
            <a:off x="7040880" y="1490472"/>
            <a:ext cx="515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Analyzing</a:t>
            </a:r>
            <a:r>
              <a:rPr lang="en-IN" dirty="0"/>
              <a:t> bike-sharing data helps understand how weather, time, and holidays affect bike rentals. Organized data leads to better decisions faster.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297C5-CA23-F66D-1B76-593EB6FD481B}"/>
              </a:ext>
            </a:extLst>
          </p:cNvPr>
          <p:cNvSpPr txBox="1"/>
          <p:nvPr/>
        </p:nvSpPr>
        <p:spPr>
          <a:xfrm>
            <a:off x="7040880" y="3009698"/>
            <a:ext cx="515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on bike rentals, weather, Demand surges cause empty or overflowed and customer types is collected  dock stations during peak commute hours. hourly and daily. </a:t>
            </a:r>
          </a:p>
        </p:txBody>
      </p:sp>
    </p:spTree>
    <p:extLst>
      <p:ext uri="{BB962C8B-B14F-4D97-AF65-F5344CB8AC3E}">
        <p14:creationId xmlns:p14="http://schemas.microsoft.com/office/powerpoint/2010/main" val="49183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D9EF-9E23-D848-E342-2613C191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6708EA90-4A5A-B70A-68F9-3FDACA44E368}"/>
              </a:ext>
            </a:extLst>
          </p:cNvPr>
          <p:cNvSpPr/>
          <p:nvPr/>
        </p:nvSpPr>
        <p:spPr>
          <a:xfrm>
            <a:off x="2523744" y="2843784"/>
            <a:ext cx="886968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20A691-76C7-7DB2-1A78-C3DA8D2E4F0D}"/>
              </a:ext>
            </a:extLst>
          </p:cNvPr>
          <p:cNvSpPr/>
          <p:nvPr/>
        </p:nvSpPr>
        <p:spPr>
          <a:xfrm>
            <a:off x="64008" y="2322576"/>
            <a:ext cx="2551176" cy="1508760"/>
          </a:xfrm>
          <a:prstGeom prst="rect">
            <a:avLst/>
          </a:prstGeom>
          <a:ln>
            <a:solidFill>
              <a:schemeClr val="bg2"/>
            </a:solidFill>
          </a:ln>
          <a:effectLst>
            <a:glow rad="101600">
              <a:schemeClr val="tx2">
                <a:lumMod val="10000"/>
                <a:alpha val="6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Here I do First </a:t>
            </a: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CCC7596-7222-079D-AB4F-91668EC80E31}"/>
              </a:ext>
            </a:extLst>
          </p:cNvPr>
          <p:cNvSpPr/>
          <p:nvPr/>
        </p:nvSpPr>
        <p:spPr>
          <a:xfrm>
            <a:off x="5413248" y="2898648"/>
            <a:ext cx="969264" cy="411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99217B-A3D1-60F7-DFE0-8F0874A0C338}"/>
              </a:ext>
            </a:extLst>
          </p:cNvPr>
          <p:cNvSpPr/>
          <p:nvPr/>
        </p:nvSpPr>
        <p:spPr>
          <a:xfrm>
            <a:off x="3410712" y="2322576"/>
            <a:ext cx="2103120" cy="1508760"/>
          </a:xfrm>
          <a:prstGeom prst="round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Clean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E7269-916B-9658-7670-2535505B0FC4}"/>
              </a:ext>
            </a:extLst>
          </p:cNvPr>
          <p:cNvSpPr txBox="1"/>
          <p:nvPr/>
        </p:nvSpPr>
        <p:spPr>
          <a:xfrm>
            <a:off x="4078224" y="192024"/>
            <a:ext cx="439521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processing</a:t>
            </a:r>
            <a:endParaRPr lang="en-IN" sz="3600" b="1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5C36685-8F0C-02F9-8FBE-0EF3E0035E98}"/>
              </a:ext>
            </a:extLst>
          </p:cNvPr>
          <p:cNvSpPr/>
          <p:nvPr/>
        </p:nvSpPr>
        <p:spPr>
          <a:xfrm>
            <a:off x="7434072" y="3831336"/>
            <a:ext cx="627577" cy="9889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F04FDB-20AA-CE9F-955C-7EA4B634CAEF}"/>
              </a:ext>
            </a:extLst>
          </p:cNvPr>
          <p:cNvSpPr/>
          <p:nvPr/>
        </p:nvSpPr>
        <p:spPr>
          <a:xfrm>
            <a:off x="6382511" y="2350008"/>
            <a:ext cx="2472239" cy="1508760"/>
          </a:xfrm>
          <a:prstGeom prst="round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Merge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338F40E-B7E6-37EB-FB68-E29CB79C02E4}"/>
              </a:ext>
            </a:extLst>
          </p:cNvPr>
          <p:cNvSpPr/>
          <p:nvPr/>
        </p:nvSpPr>
        <p:spPr>
          <a:xfrm>
            <a:off x="5165988" y="4954595"/>
            <a:ext cx="5440680" cy="1654318"/>
          </a:xfrm>
          <a:prstGeom prst="round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Reconcile multi-batch sources </a:t>
            </a:r>
          </a:p>
        </p:txBody>
      </p:sp>
    </p:spTree>
    <p:extLst>
      <p:ext uri="{BB962C8B-B14F-4D97-AF65-F5344CB8AC3E}">
        <p14:creationId xmlns:p14="http://schemas.microsoft.com/office/powerpoint/2010/main" val="306006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91C2E-53E5-E339-97BE-39C065AF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9995FE65-20EA-D4A2-A646-BDFC8B7C3920}"/>
              </a:ext>
            </a:extLst>
          </p:cNvPr>
          <p:cNvSpPr/>
          <p:nvPr/>
        </p:nvSpPr>
        <p:spPr>
          <a:xfrm rot="10800000" flipH="1">
            <a:off x="9242645" y="583162"/>
            <a:ext cx="681134" cy="131561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33D4F4-2D41-B897-952B-945D130978A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795191" y="673120"/>
            <a:ext cx="0" cy="1225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Bent-Up 23">
            <a:extLst>
              <a:ext uri="{FF2B5EF4-FFF2-40B4-BE49-F238E27FC236}">
                <a16:creationId xmlns:a16="http://schemas.microsoft.com/office/drawing/2014/main" id="{15D601CD-3F3A-D702-3AB5-D6604CD40131}"/>
              </a:ext>
            </a:extLst>
          </p:cNvPr>
          <p:cNvSpPr/>
          <p:nvPr/>
        </p:nvSpPr>
        <p:spPr>
          <a:xfrm rot="10800000">
            <a:off x="2585459" y="468458"/>
            <a:ext cx="737116" cy="131561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Bent-Up 24">
            <a:extLst>
              <a:ext uri="{FF2B5EF4-FFF2-40B4-BE49-F238E27FC236}">
                <a16:creationId xmlns:a16="http://schemas.microsoft.com/office/drawing/2014/main" id="{8B682198-A89B-4B6F-BA0A-4E827A7A5D66}"/>
              </a:ext>
            </a:extLst>
          </p:cNvPr>
          <p:cNvSpPr/>
          <p:nvPr/>
        </p:nvSpPr>
        <p:spPr>
          <a:xfrm rot="10800000">
            <a:off x="5607699" y="583163"/>
            <a:ext cx="737116" cy="131561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44D04F-44BB-BA97-2353-A5FF0D1A8B17}"/>
              </a:ext>
            </a:extLst>
          </p:cNvPr>
          <p:cNvSpPr/>
          <p:nvPr/>
        </p:nvSpPr>
        <p:spPr>
          <a:xfrm>
            <a:off x="2313992" y="1800809"/>
            <a:ext cx="1250302" cy="1530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Batch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26A49-C87D-0C0A-E710-35E964F1BE3C}"/>
              </a:ext>
            </a:extLst>
          </p:cNvPr>
          <p:cNvSpPr/>
          <p:nvPr/>
        </p:nvSpPr>
        <p:spPr>
          <a:xfrm>
            <a:off x="5170040" y="1898780"/>
            <a:ext cx="1250302" cy="1530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Batch 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6AE8B5-A326-E371-D0EA-DEC6D4563EB5}"/>
              </a:ext>
            </a:extLst>
          </p:cNvPr>
          <p:cNvSpPr/>
          <p:nvPr/>
        </p:nvSpPr>
        <p:spPr>
          <a:xfrm>
            <a:off x="9318172" y="1898780"/>
            <a:ext cx="1250302" cy="1530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Batch C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4CEA5-CDB1-77D5-C936-B1A24164E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3992" y="160804"/>
            <a:ext cx="6962398" cy="810747"/>
          </a:xfr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  <a:cs typeface="Helvetica" panose="020B0604020202020204" pitchFamily="34" charset="0"/>
              </a:rPr>
              <a:t>Workflow Stages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27E7869-F2E3-0C10-0C02-89A6A65D1FF0}"/>
              </a:ext>
            </a:extLst>
          </p:cNvPr>
          <p:cNvSpPr/>
          <p:nvPr/>
        </p:nvSpPr>
        <p:spPr>
          <a:xfrm>
            <a:off x="3301482" y="4956079"/>
            <a:ext cx="1073021" cy="810747"/>
          </a:xfrm>
          <a:prstGeom prst="rightArrow">
            <a:avLst/>
          </a:prstGeom>
          <a:solidFill>
            <a:srgbClr val="FFFF00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0E9EF3-2B99-2DD8-B376-D50B76ACD34E}"/>
              </a:ext>
            </a:extLst>
          </p:cNvPr>
          <p:cNvSpPr/>
          <p:nvPr/>
        </p:nvSpPr>
        <p:spPr>
          <a:xfrm>
            <a:off x="0" y="4472712"/>
            <a:ext cx="3442996" cy="17774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(Dataset_1)</a:t>
            </a:r>
            <a:r>
              <a:rPr lang="en-IN" dirty="0"/>
              <a:t>: 610 records containing temporal attributes (</a:t>
            </a:r>
            <a:r>
              <a:rPr lang="en-IN" dirty="0" err="1"/>
              <a:t>dteday</a:t>
            </a:r>
            <a:r>
              <a:rPr lang="en-IN" dirty="0"/>
              <a:t>, hr, season, holiday) and ambient weather. 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DE35107-4400-984C-93D1-70D6F2D37856}"/>
              </a:ext>
            </a:extLst>
          </p:cNvPr>
          <p:cNvSpPr/>
          <p:nvPr/>
        </p:nvSpPr>
        <p:spPr>
          <a:xfrm>
            <a:off x="7523581" y="5058715"/>
            <a:ext cx="1156999" cy="810747"/>
          </a:xfrm>
          <a:prstGeom prst="rightArrow">
            <a:avLst/>
          </a:prstGeom>
          <a:solidFill>
            <a:srgbClr val="FFFF00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3DD35-17D8-BCA1-2695-CD98DCB1E3F9}"/>
              </a:ext>
            </a:extLst>
          </p:cNvPr>
          <p:cNvSpPr/>
          <p:nvPr/>
        </p:nvSpPr>
        <p:spPr>
          <a:xfrm>
            <a:off x="4477139" y="4472712"/>
            <a:ext cx="3237721" cy="1712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(Dataset_2)</a:t>
            </a:r>
            <a:r>
              <a:rPr lang="en-IN" dirty="0"/>
              <a:t>: 610 records containing rental demand metrics (casual, registered, </a:t>
            </a:r>
            <a:r>
              <a:rPr lang="en-IN" dirty="0" err="1"/>
              <a:t>cnt</a:t>
            </a:r>
            <a:r>
              <a:rPr lang="en-IN" dirty="0"/>
              <a:t>) joined via instant key.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73A492-5F4F-3D76-9012-5C031822E314}"/>
              </a:ext>
            </a:extLst>
          </p:cNvPr>
          <p:cNvSpPr/>
          <p:nvPr/>
        </p:nvSpPr>
        <p:spPr>
          <a:xfrm>
            <a:off x="8680580" y="4463889"/>
            <a:ext cx="3511420" cy="1712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(Dataset_3)</a:t>
            </a:r>
            <a:r>
              <a:rPr lang="en-IN" dirty="0"/>
              <a:t>: 390 supplemental records vertically </a:t>
            </a:r>
            <a:r>
              <a:rPr lang="en-IN" dirty="0" err="1"/>
              <a:t>unioned</a:t>
            </a:r>
            <a:r>
              <a:rPr lang="en-IN" dirty="0"/>
              <a:t> to extend the temporal timeline through mid-February.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C77E24B-2DB2-6629-247C-3CE47C52E255}"/>
              </a:ext>
            </a:extLst>
          </p:cNvPr>
          <p:cNvSpPr/>
          <p:nvPr/>
        </p:nvSpPr>
        <p:spPr>
          <a:xfrm>
            <a:off x="5554823" y="3429000"/>
            <a:ext cx="541176" cy="104371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5C9E5DF-13B1-974C-9912-A2AF12DED5F3}"/>
              </a:ext>
            </a:extLst>
          </p:cNvPr>
          <p:cNvSpPr/>
          <p:nvPr/>
        </p:nvSpPr>
        <p:spPr>
          <a:xfrm>
            <a:off x="2585459" y="3420177"/>
            <a:ext cx="541176" cy="104371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3BEE50F1-42C0-FD13-DE1D-43E203F3BB31}"/>
              </a:ext>
            </a:extLst>
          </p:cNvPr>
          <p:cNvSpPr/>
          <p:nvPr/>
        </p:nvSpPr>
        <p:spPr>
          <a:xfrm>
            <a:off x="9758265" y="3429000"/>
            <a:ext cx="541176" cy="1043712"/>
          </a:xfrm>
          <a:prstGeom prst="downArrow">
            <a:avLst/>
          </a:prstGeom>
          <a:solidFill>
            <a:srgbClr val="FFFF00"/>
          </a:solidFill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05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806E4-6ACE-06BC-7699-3E2BA50D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ACD84F-88EB-B836-F903-D0ECC34A0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630" y="237744"/>
            <a:ext cx="11182739" cy="98908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4000" dirty="0"/>
              <a:t>Data Cleansing, Imputation &amp; Type Reconciliation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25BC7-526E-E1F6-55EC-17EAB2AFF718}"/>
              </a:ext>
            </a:extLst>
          </p:cNvPr>
          <p:cNvSpPr txBox="1"/>
          <p:nvPr/>
        </p:nvSpPr>
        <p:spPr>
          <a:xfrm>
            <a:off x="4728634" y="3818333"/>
            <a:ext cx="1133686" cy="71714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vs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73F95-789A-968B-9CBE-181A4C6323BD}"/>
              </a:ext>
            </a:extLst>
          </p:cNvPr>
          <p:cNvSpPr txBox="1"/>
          <p:nvPr/>
        </p:nvSpPr>
        <p:spPr>
          <a:xfrm>
            <a:off x="344424" y="1678057"/>
            <a:ext cx="32735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Raw Ingestion Anomalies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DD615-1AD0-B2EE-8A02-E8FC0A7D4CED}"/>
              </a:ext>
            </a:extLst>
          </p:cNvPr>
          <p:cNvSpPr txBox="1"/>
          <p:nvPr/>
        </p:nvSpPr>
        <p:spPr>
          <a:xfrm>
            <a:off x="8122922" y="1912882"/>
            <a:ext cx="32735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Transformation Applied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24D167-43C7-E7CD-2B3C-A0B65519F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" y="2282215"/>
            <a:ext cx="2006404" cy="16598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BCB03B-5540-6F70-4B13-8D00F6276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195" y="2282214"/>
            <a:ext cx="1833884" cy="17640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0299ED-0F9F-1E80-12FB-20F078D7A6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80" y="4176907"/>
            <a:ext cx="2938385" cy="176402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BD2DA0A-8B10-3162-7C36-62E084EB3D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750" y="2507299"/>
            <a:ext cx="5386089" cy="413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550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E087-D4F7-FC83-E2B8-4932EF13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8D60111-5291-D89D-A385-78C01768C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8240" y="355600"/>
            <a:ext cx="7102979" cy="823473"/>
          </a:xfrm>
        </p:spPr>
        <p:txBody>
          <a:bodyPr/>
          <a:lstStyle/>
          <a:p>
            <a:pPr algn="ctr"/>
            <a:r>
              <a:rPr lang="en-IN" dirty="0"/>
              <a:t>Statistical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1FAD1-1395-C2A9-3751-EFAC1814A428}"/>
              </a:ext>
            </a:extLst>
          </p:cNvPr>
          <p:cNvSpPr txBox="1"/>
          <p:nvPr/>
        </p:nvSpPr>
        <p:spPr>
          <a:xfrm>
            <a:off x="50800" y="3012514"/>
            <a:ext cx="348488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Mean = 1.48 </a:t>
            </a:r>
          </a:p>
          <a:p>
            <a:r>
              <a:rPr lang="en-IN" dirty="0">
                <a:solidFill>
                  <a:schemeClr val="bg1"/>
                </a:solidFill>
              </a:rPr>
              <a:t>Median = 1.00 </a:t>
            </a:r>
          </a:p>
          <a:p>
            <a:r>
              <a:rPr lang="en-IN" dirty="0">
                <a:solidFill>
                  <a:schemeClr val="bg1"/>
                </a:solidFill>
              </a:rPr>
              <a:t>Mode = 1 </a:t>
            </a:r>
          </a:p>
          <a:p>
            <a:r>
              <a:rPr lang="en-IN" dirty="0">
                <a:solidFill>
                  <a:schemeClr val="bg1"/>
                </a:solidFill>
              </a:rPr>
              <a:t>Skewness = +1.044</a:t>
            </a:r>
          </a:p>
          <a:p>
            <a:r>
              <a:rPr lang="en-IN" dirty="0">
                <a:solidFill>
                  <a:schemeClr val="bg1"/>
                </a:solidFill>
              </a:rPr>
              <a:t>(Right-skewed, clear-weather predominance).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276D5B-CDEB-637C-73DA-E7563C908689}"/>
              </a:ext>
            </a:extLst>
          </p:cNvPr>
          <p:cNvSpPr txBox="1"/>
          <p:nvPr/>
        </p:nvSpPr>
        <p:spPr>
          <a:xfrm>
            <a:off x="4008120" y="3151013"/>
            <a:ext cx="366776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Mean = 0.212 </a:t>
            </a:r>
          </a:p>
          <a:p>
            <a:r>
              <a:rPr lang="en-IN" dirty="0">
                <a:solidFill>
                  <a:schemeClr val="bg1"/>
                </a:solidFill>
              </a:rPr>
              <a:t>Median = 0.212 </a:t>
            </a:r>
          </a:p>
          <a:p>
            <a:r>
              <a:rPr lang="en-IN" dirty="0">
                <a:solidFill>
                  <a:schemeClr val="bg1"/>
                </a:solidFill>
              </a:rPr>
              <a:t>Std Dev = 0.0767</a:t>
            </a:r>
          </a:p>
          <a:p>
            <a:r>
              <a:rPr lang="en-IN" dirty="0">
                <a:solidFill>
                  <a:schemeClr val="bg1"/>
                </a:solidFill>
              </a:rPr>
              <a:t>Kurtosis = 0.671 </a:t>
            </a:r>
          </a:p>
          <a:p>
            <a:r>
              <a:rPr lang="en-IN" dirty="0">
                <a:solidFill>
                  <a:schemeClr val="bg1"/>
                </a:solidFill>
              </a:rPr>
              <a:t>(Symmetric Gaussian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3BAC9-C10A-B8A9-BD3A-2A00AC06B9A0}"/>
              </a:ext>
            </a:extLst>
          </p:cNvPr>
          <p:cNvSpPr txBox="1"/>
          <p:nvPr/>
        </p:nvSpPr>
        <p:spPr>
          <a:xfrm>
            <a:off x="8442960" y="3289512"/>
            <a:ext cx="3129280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Mean = 0.195 </a:t>
            </a:r>
          </a:p>
          <a:p>
            <a:r>
              <a:rPr lang="en-IN" dirty="0"/>
              <a:t>Median = 0.164 </a:t>
            </a:r>
          </a:p>
          <a:p>
            <a:r>
              <a:rPr lang="en-IN" dirty="0"/>
              <a:t>Std Dev = 0.129 </a:t>
            </a:r>
          </a:p>
          <a:p>
            <a:r>
              <a:rPr lang="en-IN" dirty="0"/>
              <a:t>Skewness = +0.434 </a:t>
            </a:r>
          </a:p>
          <a:p>
            <a:r>
              <a:rPr lang="en-IN" dirty="0"/>
              <a:t>(Mild positive skew)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7886A-6282-19E2-EACD-ADB5B7D633A4}"/>
              </a:ext>
            </a:extLst>
          </p:cNvPr>
          <p:cNvSpPr txBox="1"/>
          <p:nvPr/>
        </p:nvSpPr>
        <p:spPr>
          <a:xfrm>
            <a:off x="370840" y="1209612"/>
            <a:ext cx="2280920" cy="4616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 err="1"/>
              <a:t>Weathersit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65D1B-DA53-2199-B5B7-8417E6E88D65}"/>
              </a:ext>
            </a:extLst>
          </p:cNvPr>
          <p:cNvSpPr txBox="1"/>
          <p:nvPr/>
        </p:nvSpPr>
        <p:spPr>
          <a:xfrm>
            <a:off x="4008120" y="1209612"/>
            <a:ext cx="3667760" cy="4616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 err="1"/>
              <a:t>Atemp</a:t>
            </a:r>
            <a:r>
              <a:rPr lang="en-IN" sz="2400" dirty="0"/>
              <a:t> (Feeling Temp)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1639F-2CC0-4DF4-2383-467144C76059}"/>
              </a:ext>
            </a:extLst>
          </p:cNvPr>
          <p:cNvSpPr txBox="1"/>
          <p:nvPr/>
        </p:nvSpPr>
        <p:spPr>
          <a:xfrm>
            <a:off x="9194800" y="1394278"/>
            <a:ext cx="200152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/>
              <a:t>Windspeed</a:t>
            </a:r>
            <a:endParaRPr lang="en-IN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6905A2C-6D5E-7EB9-0DDB-2DD77AD748A2}"/>
              </a:ext>
            </a:extLst>
          </p:cNvPr>
          <p:cNvSpPr/>
          <p:nvPr/>
        </p:nvSpPr>
        <p:spPr>
          <a:xfrm>
            <a:off x="995680" y="1744974"/>
            <a:ext cx="650240" cy="11938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26D1543-DF52-5A68-FBF4-DE394FCC6455}"/>
              </a:ext>
            </a:extLst>
          </p:cNvPr>
          <p:cNvSpPr/>
          <p:nvPr/>
        </p:nvSpPr>
        <p:spPr>
          <a:xfrm>
            <a:off x="5298440" y="1701816"/>
            <a:ext cx="650240" cy="13106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E98CB40-CE2F-C348-83CE-F48559DA8E24}"/>
              </a:ext>
            </a:extLst>
          </p:cNvPr>
          <p:cNvSpPr/>
          <p:nvPr/>
        </p:nvSpPr>
        <p:spPr>
          <a:xfrm>
            <a:off x="9753600" y="1855943"/>
            <a:ext cx="650240" cy="13106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12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5D88-C435-A7FC-2C44-0505FE64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D90EFB-DE8F-395E-9B55-C04E71407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480" y="203200"/>
            <a:ext cx="6178419" cy="85395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Correlation Findings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6A8D1-A86D-FC8D-1DC6-9F1E1DAAD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74320" y="1725147"/>
            <a:ext cx="5608320" cy="152153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5C8146-8F1E-F189-4BBB-7432E2867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264317" y="3429000"/>
            <a:ext cx="2551523" cy="2181867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4C638531-F092-DFF5-EFE0-06CAF5F233CF}"/>
              </a:ext>
            </a:extLst>
          </p:cNvPr>
          <p:cNvSpPr/>
          <p:nvPr/>
        </p:nvSpPr>
        <p:spPr>
          <a:xfrm>
            <a:off x="6096000" y="1757680"/>
            <a:ext cx="1990791" cy="579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CAF305F-254F-4816-238E-E19EA8CFE164}"/>
              </a:ext>
            </a:extLst>
          </p:cNvPr>
          <p:cNvSpPr/>
          <p:nvPr/>
        </p:nvSpPr>
        <p:spPr>
          <a:xfrm>
            <a:off x="6095998" y="2836410"/>
            <a:ext cx="1990791" cy="579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ECB3C64-8EE7-20E4-0DD1-C29F9A3779DE}"/>
              </a:ext>
            </a:extLst>
          </p:cNvPr>
          <p:cNvSpPr/>
          <p:nvPr/>
        </p:nvSpPr>
        <p:spPr>
          <a:xfrm>
            <a:off x="6095999" y="3803894"/>
            <a:ext cx="1990791" cy="579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41CC6AF-AC7E-6D74-A71F-8A752A69F4DA}"/>
              </a:ext>
            </a:extLst>
          </p:cNvPr>
          <p:cNvSpPr/>
          <p:nvPr/>
        </p:nvSpPr>
        <p:spPr>
          <a:xfrm>
            <a:off x="6024878" y="5031747"/>
            <a:ext cx="1990791" cy="579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5B3796-1EB1-14A8-D301-9C9247D149EE}"/>
              </a:ext>
            </a:extLst>
          </p:cNvPr>
          <p:cNvSpPr/>
          <p:nvPr/>
        </p:nvSpPr>
        <p:spPr>
          <a:xfrm>
            <a:off x="8300151" y="1566950"/>
            <a:ext cx="3351661" cy="918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Critical Multicollinearity</a:t>
            </a:r>
            <a:r>
              <a:rPr lang="en-IN" dirty="0"/>
              <a:t>: Both metrics provide redundant thermal signals.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00A61D-66B3-B1AB-9551-7EE6249533A2}"/>
              </a:ext>
            </a:extLst>
          </p:cNvPr>
          <p:cNvSpPr/>
          <p:nvPr/>
        </p:nvSpPr>
        <p:spPr>
          <a:xfrm>
            <a:off x="8300149" y="2666487"/>
            <a:ext cx="3351661" cy="918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System throughput is almost entirely registered commuter driven.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25575D0-233D-34C6-63F8-F148DB95C518}"/>
              </a:ext>
            </a:extLst>
          </p:cNvPr>
          <p:cNvSpPr/>
          <p:nvPr/>
        </p:nvSpPr>
        <p:spPr>
          <a:xfrm>
            <a:off x="8300149" y="3766024"/>
            <a:ext cx="3434651" cy="1090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Elevated relative humidity exerts a consistent suppressing effect on ride demand.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FC57D-88EB-A3AA-0D5F-2F61C2BD2F16}"/>
              </a:ext>
            </a:extLst>
          </p:cNvPr>
          <p:cNvSpPr/>
          <p:nvPr/>
        </p:nvSpPr>
        <p:spPr>
          <a:xfrm>
            <a:off x="8300149" y="4964904"/>
            <a:ext cx="3434651" cy="918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Moderate positive affinity with midday temperature.</a:t>
            </a:r>
          </a:p>
        </p:txBody>
      </p:sp>
    </p:spTree>
    <p:extLst>
      <p:ext uri="{BB962C8B-B14F-4D97-AF65-F5344CB8AC3E}">
        <p14:creationId xmlns:p14="http://schemas.microsoft.com/office/powerpoint/2010/main" val="258035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C9058-99AF-CDAB-F0AD-6C9C750C0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123E91A1-DA6E-DE22-7480-561C2C36BDAE}"/>
              </a:ext>
            </a:extLst>
          </p:cNvPr>
          <p:cNvSpPr/>
          <p:nvPr/>
        </p:nvSpPr>
        <p:spPr>
          <a:xfrm>
            <a:off x="1178560" y="3212068"/>
            <a:ext cx="2600960" cy="49784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B4768427-AA5F-0B79-4ACC-273046830811}"/>
              </a:ext>
            </a:extLst>
          </p:cNvPr>
          <p:cNvSpPr/>
          <p:nvPr/>
        </p:nvSpPr>
        <p:spPr>
          <a:xfrm>
            <a:off x="2329180" y="3929344"/>
            <a:ext cx="2600960" cy="49784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1293FFD6-7303-3C31-65EC-0668F461A822}"/>
              </a:ext>
            </a:extLst>
          </p:cNvPr>
          <p:cNvSpPr/>
          <p:nvPr/>
        </p:nvSpPr>
        <p:spPr>
          <a:xfrm>
            <a:off x="2743200" y="4900876"/>
            <a:ext cx="2600960" cy="49784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521E3D-371B-2BCE-C29C-7AEED7C54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080" y="182880"/>
            <a:ext cx="10171299" cy="96571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24-Hour Hourly Demand Profile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BFEED-A839-134C-A68F-B73DAE9A2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223791"/>
            <a:ext cx="2286000" cy="5639289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88382B-1AAC-CB30-9BC9-E8D120D6E9EA}"/>
              </a:ext>
            </a:extLst>
          </p:cNvPr>
          <p:cNvSpPr txBox="1"/>
          <p:nvPr/>
        </p:nvSpPr>
        <p:spPr>
          <a:xfrm>
            <a:off x="4607560" y="1300480"/>
            <a:ext cx="297688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Bimodal Velocity Peaks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0DCF5E4F-F929-76EB-940E-8D9AC57FEDBE}"/>
              </a:ext>
            </a:extLst>
          </p:cNvPr>
          <p:cNvSpPr/>
          <p:nvPr/>
        </p:nvSpPr>
        <p:spPr>
          <a:xfrm>
            <a:off x="2743200" y="2316480"/>
            <a:ext cx="2600960" cy="49784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A5942-CD1C-9752-7DD4-F6E791825DF3}"/>
                  </a:ext>
                </a:extLst>
              </p:cNvPr>
              <p:cNvSpPr txBox="1"/>
              <p:nvPr/>
            </p:nvSpPr>
            <p:spPr>
              <a:xfrm>
                <a:off x="5435600" y="2316480"/>
                <a:ext cx="6238240" cy="646331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n-IN" b="1" dirty="0"/>
                  <a:t>Morning Commute Rush</a:t>
                </a:r>
                <a:r>
                  <a:rPr lang="en-IN" dirty="0"/>
                  <a:t>: Hour 08:00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b="1" dirty="0"/>
                  <a:t>128.29 rides/hr</a:t>
                </a:r>
                <a:endParaRPr lang="en-IN" dirty="0"/>
              </a:p>
              <a:p>
                <a:pPr algn="ctr"/>
                <a:endParaRPr lang="en-I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A5942-CD1C-9752-7DD4-F6E791825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600" y="2316480"/>
                <a:ext cx="6238240" cy="646331"/>
              </a:xfrm>
              <a:prstGeom prst="rect">
                <a:avLst/>
              </a:prstGeom>
              <a:blipFill>
                <a:blip r:embed="rId3"/>
                <a:stretch>
                  <a:fillRect l="-195" t="-3704" r="-98"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5E4060-54C0-0565-D6C5-3A28F7B8DF6F}"/>
                  </a:ext>
                </a:extLst>
              </p:cNvPr>
              <p:cNvSpPr txBox="1"/>
              <p:nvPr/>
            </p:nvSpPr>
            <p:spPr>
              <a:xfrm>
                <a:off x="3779520" y="3248859"/>
                <a:ext cx="7894320" cy="369332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b="1" dirty="0"/>
                  <a:t>Evening Commute Surge (Global Peak)</a:t>
                </a:r>
                <a:r>
                  <a:rPr lang="en-IN" dirty="0"/>
                  <a:t>: Hour 17:00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b="1" dirty="0"/>
                  <a:t>140.20 rides/hr</a:t>
                </a:r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5E4060-54C0-0565-D6C5-3A28F7B8D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520" y="3248859"/>
                <a:ext cx="7894320" cy="369332"/>
              </a:xfrm>
              <a:prstGeom prst="rect">
                <a:avLst/>
              </a:prstGeom>
              <a:blipFill>
                <a:blip r:embed="rId4"/>
                <a:stretch>
                  <a:fillRect l="-540" t="-7937" b="-23810"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CE32C5-C4A5-9141-1C18-30D3049E0A15}"/>
                  </a:ext>
                </a:extLst>
              </p:cNvPr>
              <p:cNvSpPr txBox="1"/>
              <p:nvPr/>
            </p:nvSpPr>
            <p:spPr>
              <a:xfrm>
                <a:off x="5191760" y="3993598"/>
                <a:ext cx="6482080" cy="369332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b="1" dirty="0"/>
                  <a:t>Midday Plateau</a:t>
                </a:r>
                <a:r>
                  <a:rPr lang="en-IN" dirty="0"/>
                  <a:t>: Hours 12:00–15:00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b="1" dirty="0"/>
                  <a:t>73.6 – 78.5 rides/hr</a:t>
                </a:r>
                <a:endParaRPr lang="en-I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CE32C5-C4A5-9141-1C18-30D3049E0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760" y="3993598"/>
                <a:ext cx="6482080" cy="369332"/>
              </a:xfrm>
              <a:prstGeom prst="rect">
                <a:avLst/>
              </a:prstGeom>
              <a:blipFill>
                <a:blip r:embed="rId5"/>
                <a:stretch>
                  <a:fillRect l="-751" t="-6349" b="-23810"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AD07F8-CA14-1DF9-847E-878719D8FAEF}"/>
                  </a:ext>
                </a:extLst>
              </p:cNvPr>
              <p:cNvSpPr txBox="1"/>
              <p:nvPr/>
            </p:nvSpPr>
            <p:spPr>
              <a:xfrm>
                <a:off x="5435600" y="4874072"/>
                <a:ext cx="6238240" cy="646331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n-IN" b="1" dirty="0"/>
                  <a:t>Morning Commute Rush</a:t>
                </a:r>
                <a:r>
                  <a:rPr lang="en-IN" dirty="0"/>
                  <a:t>: Hour 08:00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b="1" dirty="0"/>
                  <a:t>128.29 rides/hr</a:t>
                </a:r>
                <a:endParaRPr lang="en-IN" dirty="0"/>
              </a:p>
              <a:p>
                <a:pPr algn="ctr"/>
                <a:endParaRPr lang="en-IN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AD07F8-CA14-1DF9-847E-878719D8F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600" y="4874072"/>
                <a:ext cx="6238240" cy="646331"/>
              </a:xfrm>
              <a:prstGeom prst="rect">
                <a:avLst/>
              </a:prstGeom>
              <a:blipFill>
                <a:blip r:embed="rId6"/>
                <a:stretch>
                  <a:fillRect l="-195" t="-4630" r="-98"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992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7E49D-3753-EFAD-0FAA-69BC2D24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CFAE68E-124E-7452-E32F-7E1DF7918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080" y="75943"/>
            <a:ext cx="8393299" cy="986033"/>
          </a:xfrm>
        </p:spPr>
        <p:txBody>
          <a:bodyPr/>
          <a:lstStyle/>
          <a:p>
            <a:pPr algn="ctr"/>
            <a:r>
              <a:rPr lang="en-IN" dirty="0"/>
              <a:t>User Segmentation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E09BE-8F14-06FE-7458-574B3EDFA45B}"/>
              </a:ext>
            </a:extLst>
          </p:cNvPr>
          <p:cNvSpPr txBox="1"/>
          <p:nvPr/>
        </p:nvSpPr>
        <p:spPr>
          <a:xfrm>
            <a:off x="284480" y="1625600"/>
            <a:ext cx="492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Registered Commuters (91.7% | 53,383 Rides) 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06EBA-2D01-1018-1BC6-847B62CE307F}"/>
              </a:ext>
            </a:extLst>
          </p:cNvPr>
          <p:cNvSpPr txBox="1"/>
          <p:nvPr/>
        </p:nvSpPr>
        <p:spPr>
          <a:xfrm>
            <a:off x="6410960" y="1625600"/>
            <a:ext cx="5283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Casual Leisure Users (8.3% | 4,921 Rides)</a:t>
            </a:r>
            <a:endParaRPr lang="en-IN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03C9772-9918-70E8-ED35-BE6153504010}"/>
              </a:ext>
            </a:extLst>
          </p:cNvPr>
          <p:cNvSpPr/>
          <p:nvPr/>
        </p:nvSpPr>
        <p:spPr>
          <a:xfrm>
            <a:off x="2077720" y="2722880"/>
            <a:ext cx="670560" cy="8534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FE2AE283-96D1-7006-C71C-A524F8D454BE}"/>
              </a:ext>
            </a:extLst>
          </p:cNvPr>
          <p:cNvSpPr/>
          <p:nvPr/>
        </p:nvSpPr>
        <p:spPr>
          <a:xfrm>
            <a:off x="8072120" y="2702818"/>
            <a:ext cx="670560" cy="8534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736E40-9CD1-CB87-634B-3BF68DE3299C}"/>
              </a:ext>
            </a:extLst>
          </p:cNvPr>
          <p:cNvSpPr/>
          <p:nvPr/>
        </p:nvSpPr>
        <p:spPr>
          <a:xfrm>
            <a:off x="182880" y="3799840"/>
            <a:ext cx="5730240" cy="853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/>
              <a:t>Strict commuter schedules: Sharp demand surges at 08:00 and 17:00.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D50288-D643-A85B-4F5F-A51C0B5F569B}"/>
              </a:ext>
            </a:extLst>
          </p:cNvPr>
          <p:cNvSpPr/>
          <p:nvPr/>
        </p:nvSpPr>
        <p:spPr>
          <a:xfrm>
            <a:off x="182880" y="4876800"/>
            <a:ext cx="5730240" cy="853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/>
              <a:t>Volume remains resilient on weekdays (Thursday average: 65.0 registered rides/hr).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680526-DA34-B110-1487-A635AC4CB31A}"/>
              </a:ext>
            </a:extLst>
          </p:cNvPr>
          <p:cNvSpPr/>
          <p:nvPr/>
        </p:nvSpPr>
        <p:spPr>
          <a:xfrm>
            <a:off x="6299200" y="3780036"/>
            <a:ext cx="5730240" cy="9038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/>
              <a:t>Weekend recreational clustering (Sunday casual average: 9.01 rides/hr vs Wednesday: 2.63 rides/hr).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FA3C65-C684-66E5-4138-60704CFBFFCA}"/>
              </a:ext>
            </a:extLst>
          </p:cNvPr>
          <p:cNvSpPr/>
          <p:nvPr/>
        </p:nvSpPr>
        <p:spPr>
          <a:xfrm>
            <a:off x="6278880" y="4958080"/>
            <a:ext cx="5730240" cy="853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/>
              <a:t>High sensitivity to cold temperatures and precipitation.</a:t>
            </a:r>
          </a:p>
        </p:txBody>
      </p:sp>
    </p:spTree>
    <p:extLst>
      <p:ext uri="{BB962C8B-B14F-4D97-AF65-F5344CB8AC3E}">
        <p14:creationId xmlns:p14="http://schemas.microsoft.com/office/powerpoint/2010/main" val="1072345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3DF5-DB80-EC77-F2FE-CCBDDC85E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F7E832-B964-110B-CCB6-830518FBD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230" y="233680"/>
            <a:ext cx="10059539" cy="762513"/>
          </a:xfrm>
        </p:spPr>
        <p:txBody>
          <a:bodyPr/>
          <a:lstStyle/>
          <a:p>
            <a:r>
              <a:rPr lang="en-IN" dirty="0"/>
              <a:t>Day-of-Week Utilization &amp; Variance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10AD02D6-9FAC-6B9F-EEBF-B036D5099BCA}"/>
              </a:ext>
            </a:extLst>
          </p:cNvPr>
          <p:cNvSpPr txBox="1">
            <a:spLocks/>
          </p:cNvSpPr>
          <p:nvPr/>
        </p:nvSpPr>
        <p:spPr>
          <a:xfrm>
            <a:off x="0" y="1127247"/>
            <a:ext cx="5740970" cy="478033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Weekday Variance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9CE69-5CC6-4503-8AD9-59A6BA97266D}"/>
              </a:ext>
            </a:extLst>
          </p:cNvPr>
          <p:cNvSpPr txBox="1"/>
          <p:nvPr/>
        </p:nvSpPr>
        <p:spPr>
          <a:xfrm>
            <a:off x="0" y="1736334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Thursday</a:t>
            </a:r>
            <a:r>
              <a:rPr lang="en-IN" dirty="0"/>
              <a:t>: </a:t>
            </a:r>
            <a:r>
              <a:rPr lang="en-IN" b="1" dirty="0"/>
              <a:t>67.66 rides/hr</a:t>
            </a:r>
            <a:r>
              <a:rPr lang="en-IN" dirty="0"/>
              <a:t> (Weekly Operational Peak)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43B4F-1668-773D-4E9C-A2E4D56156D0}"/>
              </a:ext>
            </a:extLst>
          </p:cNvPr>
          <p:cNvSpPr txBox="1"/>
          <p:nvPr/>
        </p:nvSpPr>
        <p:spPr>
          <a:xfrm>
            <a:off x="284480" y="2160755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Tuesday</a:t>
            </a:r>
            <a:r>
              <a:rPr lang="en-IN" dirty="0"/>
              <a:t>: </a:t>
            </a:r>
            <a:r>
              <a:rPr lang="en-IN" b="1" dirty="0"/>
              <a:t>66.01 rides/hr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AD0A2-3B29-A500-854F-3576A6009ED6}"/>
              </a:ext>
            </a:extLst>
          </p:cNvPr>
          <p:cNvSpPr txBox="1"/>
          <p:nvPr/>
        </p:nvSpPr>
        <p:spPr>
          <a:xfrm>
            <a:off x="701040" y="2585176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Friday</a:t>
            </a:r>
            <a:r>
              <a:rPr lang="en-IN" dirty="0"/>
              <a:t>: </a:t>
            </a:r>
            <a:r>
              <a:rPr lang="en-IN" b="1" dirty="0"/>
              <a:t>65.91 rides/hr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8E0C5-1E10-0406-6DBC-557EFE9C33BF}"/>
              </a:ext>
            </a:extLst>
          </p:cNvPr>
          <p:cNvSpPr txBox="1"/>
          <p:nvPr/>
        </p:nvSpPr>
        <p:spPr>
          <a:xfrm>
            <a:off x="1097850" y="3009597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Wednesday</a:t>
            </a:r>
            <a:r>
              <a:rPr lang="en-IN" dirty="0"/>
              <a:t>: </a:t>
            </a:r>
            <a:r>
              <a:rPr lang="en-IN" b="1" dirty="0"/>
              <a:t>61.44 rides/hr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65AFBD-B2BB-9B6B-8529-3D3DC6108C69}"/>
              </a:ext>
            </a:extLst>
          </p:cNvPr>
          <p:cNvSpPr txBox="1"/>
          <p:nvPr/>
        </p:nvSpPr>
        <p:spPr>
          <a:xfrm>
            <a:off x="1362010" y="3429000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Monday</a:t>
            </a:r>
            <a:r>
              <a:rPr lang="en-IN" dirty="0"/>
              <a:t>: </a:t>
            </a:r>
            <a:r>
              <a:rPr lang="en-IN" b="1" dirty="0"/>
              <a:t>56.71 rides/hr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9F06D-C6EB-5E9B-A6AF-3BBB79481F2D}"/>
              </a:ext>
            </a:extLst>
          </p:cNvPr>
          <p:cNvSpPr txBox="1"/>
          <p:nvPr/>
        </p:nvSpPr>
        <p:spPr>
          <a:xfrm>
            <a:off x="1788159" y="3613666"/>
            <a:ext cx="89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IN" dirty="0"/>
          </a:p>
          <a:p>
            <a:pPr lvl="0"/>
            <a:r>
              <a:rPr lang="en-IN" b="1" dirty="0"/>
              <a:t>Sunday</a:t>
            </a:r>
            <a:r>
              <a:rPr lang="en-IN" dirty="0"/>
              <a:t>: </a:t>
            </a:r>
            <a:r>
              <a:rPr lang="en-IN" b="1" dirty="0"/>
              <a:t>49.52 rides/hr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E6419-F92A-E23F-411D-A08A7B87A887}"/>
              </a:ext>
            </a:extLst>
          </p:cNvPr>
          <p:cNvSpPr txBox="1"/>
          <p:nvPr/>
        </p:nvSpPr>
        <p:spPr>
          <a:xfrm>
            <a:off x="2317049" y="4444663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Saturday</a:t>
            </a:r>
            <a:r>
              <a:rPr lang="en-IN" dirty="0"/>
              <a:t>: </a:t>
            </a:r>
            <a:r>
              <a:rPr lang="en-IN" b="1" dirty="0"/>
              <a:t>46.32 rides/hr</a:t>
            </a:r>
            <a:r>
              <a:rPr lang="en-IN" dirty="0"/>
              <a:t> (Lowest overall throughput)</a:t>
            </a:r>
          </a:p>
        </p:txBody>
      </p:sp>
    </p:spTree>
    <p:extLst>
      <p:ext uri="{BB962C8B-B14F-4D97-AF65-F5344CB8AC3E}">
        <p14:creationId xmlns:p14="http://schemas.microsoft.com/office/powerpoint/2010/main" val="777617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ED38-17F7-47C6-A2FE-BBAA4648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3E6E603F-F552-93B4-DB14-C4CC2A8E88E8}"/>
              </a:ext>
            </a:extLst>
          </p:cNvPr>
          <p:cNvSpPr/>
          <p:nvPr/>
        </p:nvSpPr>
        <p:spPr>
          <a:xfrm>
            <a:off x="0" y="1352964"/>
            <a:ext cx="8747760" cy="1188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/>
              <a:t>Clear / Partly Cloudy (Cat 1)</a:t>
            </a:r>
            <a:r>
              <a:rPr lang="en-IN" dirty="0"/>
              <a:t>: </a:t>
            </a:r>
            <a:r>
              <a:rPr lang="en-IN" b="1" dirty="0"/>
              <a:t>61.67 rides/hr</a:t>
            </a:r>
            <a:r>
              <a:rPr lang="en-IN" dirty="0"/>
              <a:t> (Baseline benchmark)</a:t>
            </a:r>
          </a:p>
          <a:p>
            <a:pPr algn="ctr"/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B1432A4-8E8A-56E0-DB35-76E8492BF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2190" y="162560"/>
            <a:ext cx="6127619" cy="96571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Demand Elasticity</a:t>
            </a:r>
            <a:r>
              <a:rPr lang="en-IN" dirty="0"/>
              <a:t>: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1E4D918-FBC2-8BC6-111B-F3CF0ADAFF7F}"/>
              </a:ext>
            </a:extLst>
          </p:cNvPr>
          <p:cNvSpPr/>
          <p:nvPr/>
        </p:nvSpPr>
        <p:spPr>
          <a:xfrm>
            <a:off x="447040" y="2368905"/>
            <a:ext cx="8747760" cy="1188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/>
              <a:t>Mist / Overcast (Cat 2)</a:t>
            </a:r>
            <a:r>
              <a:rPr lang="en-IN" dirty="0"/>
              <a:t>: </a:t>
            </a:r>
            <a:r>
              <a:rPr lang="en-IN" b="1" dirty="0"/>
              <a:t>58.44 rides/hr</a:t>
            </a:r>
            <a:r>
              <a:rPr lang="en-IN" dirty="0"/>
              <a:t> (-5.2% marginal decline)</a:t>
            </a:r>
          </a:p>
          <a:p>
            <a:pPr algn="ctr"/>
            <a:endParaRPr lang="en-IN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D105E24-1CC5-B1EE-B43C-F89AC25EE4EC}"/>
              </a:ext>
            </a:extLst>
          </p:cNvPr>
          <p:cNvSpPr/>
          <p:nvPr/>
        </p:nvSpPr>
        <p:spPr>
          <a:xfrm>
            <a:off x="1239520" y="3429000"/>
            <a:ext cx="8747760" cy="1188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/>
              <a:t>Light Snow / Rain (Cat 3)</a:t>
            </a:r>
            <a:r>
              <a:rPr lang="en-IN" dirty="0"/>
              <a:t>: </a:t>
            </a:r>
            <a:r>
              <a:rPr lang="en-IN" b="1" dirty="0"/>
              <a:t>33.20 rides/hr</a:t>
            </a:r>
            <a:r>
              <a:rPr lang="en-IN" dirty="0"/>
              <a:t> (</a:t>
            </a:r>
            <a:r>
              <a:rPr lang="en-IN" b="1" dirty="0"/>
              <a:t>-46.1% severe drop</a:t>
            </a:r>
            <a:r>
              <a:rPr lang="en-IN" dirty="0"/>
              <a:t>)</a:t>
            </a:r>
          </a:p>
          <a:p>
            <a:pPr algn="ctr"/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A352FCF-E0C1-00B8-8740-417CD5C5D24E}"/>
              </a:ext>
            </a:extLst>
          </p:cNvPr>
          <p:cNvSpPr/>
          <p:nvPr/>
        </p:nvSpPr>
        <p:spPr>
          <a:xfrm>
            <a:off x="1899920" y="4617720"/>
            <a:ext cx="8747760" cy="1188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Heavy Precipitation (Cat 4)</a:t>
            </a:r>
            <a:r>
              <a:rPr lang="en-IN" dirty="0"/>
              <a:t>: </a:t>
            </a:r>
            <a:r>
              <a:rPr lang="en-IN" b="1" dirty="0"/>
              <a:t>36.00 rides/hr</a:t>
            </a:r>
            <a:r>
              <a:rPr lang="en-IN" dirty="0"/>
              <a:t> (Rare occurrences)</a:t>
            </a:r>
          </a:p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EC3A3-14D9-2290-3AEE-BF81F6C992D9}"/>
              </a:ext>
            </a:extLst>
          </p:cNvPr>
          <p:cNvSpPr txBox="1"/>
          <p:nvPr/>
        </p:nvSpPr>
        <p:spPr>
          <a:xfrm>
            <a:off x="162560" y="6181189"/>
            <a:ext cx="12435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Key Takeaway</a:t>
            </a:r>
            <a:r>
              <a:rPr lang="en-IN" sz="1200" dirty="0"/>
              <a:t>: Rain and winter snow trigger an instantaneous 46.1% demand drop, creating an immediate opportunity to pull surplus bikes for preventative servicing.</a:t>
            </a:r>
          </a:p>
        </p:txBody>
      </p:sp>
    </p:spTree>
    <p:extLst>
      <p:ext uri="{BB962C8B-B14F-4D97-AF65-F5344CB8AC3E}">
        <p14:creationId xmlns:p14="http://schemas.microsoft.com/office/powerpoint/2010/main" val="974350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0F84C-D54B-6B82-085A-E0CA2303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4F6FFE-B703-C5C9-8BC2-8FD934D21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640" y="264160"/>
            <a:ext cx="11248259" cy="88443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Operational 24-Hour Reference Guide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EC24A7-3F25-8A91-631E-CD4CBC702AF7}"/>
              </a:ext>
            </a:extLst>
          </p:cNvPr>
          <p:cNvSpPr/>
          <p:nvPr/>
        </p:nvSpPr>
        <p:spPr>
          <a:xfrm>
            <a:off x="0" y="1259840"/>
            <a:ext cx="1205992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7CA320-95F1-4D89-E9AB-3C059765B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535691"/>
              </p:ext>
            </p:extLst>
          </p:nvPr>
        </p:nvGraphicFramePr>
        <p:xfrm>
          <a:off x="294640" y="1420859"/>
          <a:ext cx="11389360" cy="4908822"/>
        </p:xfrm>
        <a:graphic>
          <a:graphicData uri="http://schemas.openxmlformats.org/drawingml/2006/table">
            <a:tbl>
              <a:tblPr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2847340">
                  <a:extLst>
                    <a:ext uri="{9D8B030D-6E8A-4147-A177-3AD203B41FA5}">
                      <a16:colId xmlns:a16="http://schemas.microsoft.com/office/drawing/2014/main" val="3107489398"/>
                    </a:ext>
                  </a:extLst>
                </a:gridCol>
                <a:gridCol w="2847340">
                  <a:extLst>
                    <a:ext uri="{9D8B030D-6E8A-4147-A177-3AD203B41FA5}">
                      <a16:colId xmlns:a16="http://schemas.microsoft.com/office/drawing/2014/main" val="2338344664"/>
                    </a:ext>
                  </a:extLst>
                </a:gridCol>
                <a:gridCol w="2847340">
                  <a:extLst>
                    <a:ext uri="{9D8B030D-6E8A-4147-A177-3AD203B41FA5}">
                      <a16:colId xmlns:a16="http://schemas.microsoft.com/office/drawing/2014/main" val="869289851"/>
                    </a:ext>
                  </a:extLst>
                </a:gridCol>
                <a:gridCol w="2847340">
                  <a:extLst>
                    <a:ext uri="{9D8B030D-6E8A-4147-A177-3AD203B41FA5}">
                      <a16:colId xmlns:a16="http://schemas.microsoft.com/office/drawing/2014/main" val="1579935366"/>
                    </a:ext>
                  </a:extLst>
                </a:gridCol>
              </a:tblGrid>
              <a:tr h="610961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Time Window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Clock Range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Fleet Velocity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Operational Status &amp; Action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44886"/>
                  </a:ext>
                </a:extLst>
              </a:tr>
              <a:tr h="860899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Late Night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00:00 – 04:00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2.16 – 16.35 rides/hr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Low Activity: Maintenance &amp; repair window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614833"/>
                  </a:ext>
                </a:extLst>
              </a:tr>
              <a:tr h="860899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Early Morning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05:00 – 06:00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4.21 – 19.57 rides/hr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Staging Phase: Van transfers to transit stations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93316"/>
                  </a:ext>
                </a:extLst>
              </a:tr>
              <a:tr h="860899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Morning Commute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07:00 – 09:00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54.40 – 128.29 rides/hr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Critical Rush: Rapid replenishment at metro hubs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634389"/>
                  </a:ext>
                </a:extLst>
              </a:tr>
              <a:tr h="85426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Midday Circulation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10:00 – 15:00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53.64 – 78.51 rides/hr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Steady Leisure: Normal dock circulation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462120"/>
                  </a:ext>
                </a:extLst>
              </a:tr>
              <a:tr h="860899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Evening Commute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16:00 – 19:00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85.14 – 140.20 rides/hr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500" dirty="0">
                          <a:effectLst/>
                        </a:rPr>
                        <a:t>Maximum Fleet Load: Peak dock capacity management</a:t>
                      </a:r>
                      <a:endParaRPr lang="en-IN" sz="1500" dirty="0">
                        <a:effectLst/>
                        <a:latin typeface="Google Sans Text"/>
                      </a:endParaRPr>
                    </a:p>
                  </a:txBody>
                  <a:tcPr marL="76880" marR="76880" marT="51254" marB="51254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181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74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2FCE-249A-4FC0-2A6E-151A95D5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035D03-77DB-CDA6-93EF-45B30CBE8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9200" y="386080"/>
            <a:ext cx="6798179" cy="925073"/>
          </a:xfrm>
        </p:spPr>
        <p:txBody>
          <a:bodyPr/>
          <a:lstStyle/>
          <a:p>
            <a:pPr algn="ctr"/>
            <a:r>
              <a:rPr lang="en-IN" dirty="0"/>
              <a:t>KPI Summary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7CF8E-7901-95D5-EF3C-F98F1032C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72" y="96359"/>
            <a:ext cx="11595256" cy="22302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77A48A-E766-0B03-11CD-C6271F4EC9C9}"/>
              </a:ext>
            </a:extLst>
          </p:cNvPr>
          <p:cNvSpPr/>
          <p:nvPr/>
        </p:nvSpPr>
        <p:spPr>
          <a:xfrm>
            <a:off x="298372" y="2356448"/>
            <a:ext cx="2885440" cy="187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Total Bike Rental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9049D-E16F-792F-23D5-D8C4C3D9587F}"/>
              </a:ext>
            </a:extLst>
          </p:cNvPr>
          <p:cNvSpPr/>
          <p:nvPr/>
        </p:nvSpPr>
        <p:spPr>
          <a:xfrm>
            <a:off x="3281680" y="2341207"/>
            <a:ext cx="2885440" cy="187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Avg Hourly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20452-F858-C158-050C-45C0F1AAE724}"/>
              </a:ext>
            </a:extLst>
          </p:cNvPr>
          <p:cNvSpPr/>
          <p:nvPr/>
        </p:nvSpPr>
        <p:spPr>
          <a:xfrm>
            <a:off x="6264988" y="2326641"/>
            <a:ext cx="2885440" cy="187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Peak Rush Hour</a:t>
            </a:r>
            <a:endParaRPr lang="en-IN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579948-C358-6AB9-E7F6-CA8DEE51B3EC}"/>
              </a:ext>
            </a:extLst>
          </p:cNvPr>
          <p:cNvSpPr/>
          <p:nvPr/>
        </p:nvSpPr>
        <p:spPr>
          <a:xfrm>
            <a:off x="9248296" y="2326641"/>
            <a:ext cx="2885440" cy="187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Weather Impact Drop</a:t>
            </a:r>
            <a:endParaRPr lang="en-IN" sz="2400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08354EC-3A76-FBCB-E4BD-B48756EAF0DA}"/>
              </a:ext>
            </a:extLst>
          </p:cNvPr>
          <p:cNvSpPr/>
          <p:nvPr/>
        </p:nvSpPr>
        <p:spPr>
          <a:xfrm>
            <a:off x="1263054" y="4236048"/>
            <a:ext cx="741680" cy="10261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FC7E6A8-E898-D9E8-20E7-B27DE0B4A45B}"/>
              </a:ext>
            </a:extLst>
          </p:cNvPr>
          <p:cNvSpPr/>
          <p:nvPr/>
        </p:nvSpPr>
        <p:spPr>
          <a:xfrm>
            <a:off x="4353560" y="4236048"/>
            <a:ext cx="741680" cy="10261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484C700-ECAA-D300-4CF3-314307403D02}"/>
              </a:ext>
            </a:extLst>
          </p:cNvPr>
          <p:cNvSpPr/>
          <p:nvPr/>
        </p:nvSpPr>
        <p:spPr>
          <a:xfrm>
            <a:off x="7267614" y="4236048"/>
            <a:ext cx="741680" cy="10261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4769D15-8336-E512-45E4-87CFDF2A38C9}"/>
              </a:ext>
            </a:extLst>
          </p:cNvPr>
          <p:cNvSpPr/>
          <p:nvPr/>
        </p:nvSpPr>
        <p:spPr>
          <a:xfrm>
            <a:off x="10358120" y="4236048"/>
            <a:ext cx="741680" cy="10261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500DE5-80B3-7880-3D0D-D97BE61EF9ED}"/>
              </a:ext>
            </a:extLst>
          </p:cNvPr>
          <p:cNvSpPr/>
          <p:nvPr/>
        </p:nvSpPr>
        <p:spPr>
          <a:xfrm>
            <a:off x="92348" y="5281856"/>
            <a:ext cx="2885440" cy="1362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58198</a:t>
            </a:r>
            <a:endParaRPr lang="en-IN" sz="3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92C9B-1644-AABE-F0A6-6DAE55B3421A}"/>
              </a:ext>
            </a:extLst>
          </p:cNvPr>
          <p:cNvSpPr/>
          <p:nvPr/>
        </p:nvSpPr>
        <p:spPr>
          <a:xfrm>
            <a:off x="3076057" y="5281856"/>
            <a:ext cx="3221394" cy="1362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11.753</a:t>
            </a:r>
            <a:endParaRPr lang="en-IN" sz="3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762A0-A6CE-B7D7-31A9-D2624052AB3F}"/>
              </a:ext>
            </a:extLst>
          </p:cNvPr>
          <p:cNvSpPr/>
          <p:nvPr/>
        </p:nvSpPr>
        <p:spPr>
          <a:xfrm>
            <a:off x="6395720" y="5262208"/>
            <a:ext cx="2719666" cy="1381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17</a:t>
            </a:r>
            <a:endParaRPr lang="en-IN" sz="4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0627D9-DE43-AA7E-743A-D4F7C13AA27B}"/>
              </a:ext>
            </a:extLst>
          </p:cNvPr>
          <p:cNvSpPr/>
          <p:nvPr/>
        </p:nvSpPr>
        <p:spPr>
          <a:xfrm>
            <a:off x="9306560" y="5262208"/>
            <a:ext cx="2885440" cy="1381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</a:t>
            </a:r>
            <a:r>
              <a:rPr lang="en-US" sz="3600" dirty="0"/>
              <a:t>0.461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68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0530-358F-06E7-0F43-596E4ED5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B59B44-B5E4-1E2A-6DD6-3ABEE8819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1" y="1097280"/>
            <a:ext cx="11445416" cy="4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87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8D47-8FF8-B7CB-1078-DCF1B31F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AC6B9-1C48-B398-1E13-A9A916AEF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538481"/>
            <a:ext cx="11216640" cy="510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3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38618-BF98-DE12-A23B-6CE61809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53E71-7080-B2CD-B10E-C1A3E97CA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0" y="1144063"/>
            <a:ext cx="11961779" cy="456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11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A6D77-A394-4CA5-3514-9E017C3D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F38599-DCFE-4C2F-B178-D7012CBB1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5281" y="0"/>
            <a:ext cx="5405120" cy="115367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791A93"/>
                </a:solidFill>
              </a:rPr>
              <a:t>Thank you </a:t>
            </a:r>
            <a:endParaRPr lang="en-IN" sz="6600" b="1" dirty="0">
              <a:solidFill>
                <a:srgbClr val="791A9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9DE3D1-894C-61B4-332C-F78A356EF3D2}"/>
              </a:ext>
            </a:extLst>
          </p:cNvPr>
          <p:cNvSpPr txBox="1"/>
          <p:nvPr/>
        </p:nvSpPr>
        <p:spPr>
          <a:xfrm>
            <a:off x="7416800" y="1564640"/>
            <a:ext cx="424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NEXTHIKES IT SOLUTIONS |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CF8F8-A08B-550F-4987-996563C515E2}"/>
              </a:ext>
            </a:extLst>
          </p:cNvPr>
          <p:cNvSpPr txBox="1"/>
          <p:nvPr/>
        </p:nvSpPr>
        <p:spPr>
          <a:xfrm>
            <a:off x="9865360" y="1138946"/>
            <a:ext cx="4246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1"/>
                </a:solidFill>
              </a:rPr>
              <a:t>— Questions &amp;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4D750-3666-AEE9-BE47-4D5AA745EAB2}"/>
              </a:ext>
            </a:extLst>
          </p:cNvPr>
          <p:cNvSpPr txBox="1"/>
          <p:nvPr/>
        </p:nvSpPr>
        <p:spPr>
          <a:xfrm>
            <a:off x="172720" y="2613392"/>
            <a:ext cx="80060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solidFill>
                  <a:srgbClr val="FFC000"/>
                </a:solidFill>
              </a:rPr>
              <a:t>[✓] </a:t>
            </a:r>
            <a:r>
              <a:rPr lang="en-IN" sz="2000" dirty="0"/>
              <a:t>Cleaned &amp; Unified Workbook (</a:t>
            </a:r>
            <a:r>
              <a:rPr lang="en-IN" sz="2000" dirty="0" err="1"/>
              <a:t>Prepocessing</a:t>
            </a:r>
            <a:r>
              <a:rPr lang="en-IN" sz="2000" dirty="0"/>
              <a:t> final data.xlsx)</a:t>
            </a:r>
          </a:p>
          <a:p>
            <a:pPr lvl="0"/>
            <a:r>
              <a:rPr lang="en-IN" sz="2000" dirty="0"/>
              <a:t> </a:t>
            </a:r>
          </a:p>
          <a:p>
            <a:pPr lvl="0"/>
            <a:r>
              <a:rPr lang="en-IN" sz="2000" b="1" dirty="0">
                <a:solidFill>
                  <a:srgbClr val="FFC000"/>
                </a:solidFill>
              </a:rPr>
              <a:t>[✓] </a:t>
            </a:r>
            <a:r>
              <a:rPr lang="en-IN" sz="2000" dirty="0"/>
              <a:t>Automated VBA Reporting Scripts &amp; Macro Modules 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>
                <a:solidFill>
                  <a:srgbClr val="FFC000"/>
                </a:solidFill>
              </a:rPr>
              <a:t>[✓] </a:t>
            </a:r>
            <a:r>
              <a:rPr lang="en-IN" sz="2000" dirty="0"/>
              <a:t>Multi-Slicer Interactive BI Executive Dashboard 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>
                <a:solidFill>
                  <a:srgbClr val="FFC000"/>
                </a:solidFill>
              </a:rPr>
              <a:t>[✓] </a:t>
            </a:r>
            <a:r>
              <a:rPr lang="en-IN" sz="2000" dirty="0"/>
              <a:t>Comprehensive Technical Summary Documentation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88881339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587</TotalTime>
  <Words>809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Rounded MT Bold</vt:lpstr>
      <vt:lpstr>Cambria Math</vt:lpstr>
      <vt:lpstr>Google Sans Text</vt:lpstr>
      <vt:lpstr>Neue Haas Grotesk Text Pro</vt:lpstr>
      <vt:lpstr>Film Burn</vt:lpstr>
      <vt:lpstr>Bike Sharing Demand Analysis &amp; Fleet Optimization. </vt:lpstr>
      <vt:lpstr>PowerPoint Presentation</vt:lpstr>
      <vt:lpstr>PowerPoint Presentation</vt:lpstr>
      <vt:lpstr>Workflow Stages</vt:lpstr>
      <vt:lpstr>Data Cleansing, Imputation &amp; Type Reconciliation</vt:lpstr>
      <vt:lpstr>Statistical Summary</vt:lpstr>
      <vt:lpstr>Correlation Findings</vt:lpstr>
      <vt:lpstr>24-Hour Hourly Demand Profile</vt:lpstr>
      <vt:lpstr>User Segmentation</vt:lpstr>
      <vt:lpstr>Day-of-Week Utilization &amp; Variance</vt:lpstr>
      <vt:lpstr>Demand Elasticity:</vt:lpstr>
      <vt:lpstr>Operational 24-Hour Reference Guide</vt:lpstr>
      <vt:lpstr>KPI Summary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Aswiniranjan Behera</dc:creator>
  <cp:lastModifiedBy>Aswiniranjan Behera</cp:lastModifiedBy>
  <cp:revision>1</cp:revision>
  <dcterms:created xsi:type="dcterms:W3CDTF">2026-10-10T08:05:33Z</dcterms:created>
  <dcterms:modified xsi:type="dcterms:W3CDTF">2026-10-10T17:53:25Z</dcterms:modified>
</cp:coreProperties>
</file>